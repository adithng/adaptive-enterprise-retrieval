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cc957a18e2467c" /><Relationship Type="http://schemas.openxmlformats.org/officeDocument/2006/relationships/extended-properties" Target="/docProps/app.xml" Id="R54259ccec5a04caf" /><Relationship Type="http://schemas.openxmlformats.org/officeDocument/2006/relationships/officeDocument" Target="/ppt/presentation.xml" Id="Rc400f355646b4b76" /></Relationships>
</file>

<file path=ppt/presentation.xml><?xml version="1.0" encoding="utf-8"?>
<p:presentation xmlns:p="http://schemas.openxmlformats.org/presentationml/2006/main">
  <p:sldMasterIdLst>
    <p:sldMasterId xmlns:r="http://schemas.openxmlformats.org/officeDocument/2006/relationships" id="2147483648" r:id="R60ca01f3cf1145db"/>
  </p:sldMasterIdLst>
  <p:notesMasterIdLst>
    <p:notesMasterId xmlns:r="http://schemas.openxmlformats.org/officeDocument/2006/relationships" r:id="Re6c8471d94764704"/>
  </p:notesMasterIdLst>
  <p:sldIdLst>
    <p:sldId xmlns:r="http://schemas.openxmlformats.org/officeDocument/2006/relationships" id="256" r:id="R9b0ac78760004ac1"/>
    <p:sldId xmlns:r="http://schemas.openxmlformats.org/officeDocument/2006/relationships" id="257" r:id="R1cbb0020b43945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f5aaa4147d4ac8" /><Relationship Type="http://schemas.openxmlformats.org/officeDocument/2006/relationships/slideMaster" Target="/ppt/slideMasters/slideMaster1.xml" Id="R60ca01f3cf1145db" /><Relationship Type="http://schemas.openxmlformats.org/officeDocument/2006/relationships/notesMaster" Target="/ppt/notesMasters/notesMaster1.xml" Id="Re6c8471d94764704" /><Relationship Type="http://schemas.openxmlformats.org/officeDocument/2006/relationships/presProps" Target="/ppt/presProps.xml" Id="Rc6c81850da7e4340" /><Relationship Type="http://schemas.openxmlformats.org/officeDocument/2006/relationships/tableStyles" Target="/ppt/tableStyles.xml" Id="R825da0cff5e14d1d" /><Relationship Type="http://schemas.openxmlformats.org/officeDocument/2006/relationships/slide" Target="/ppt/slides/slide1.xml" Id="R9b0ac78760004ac1" /><Relationship Type="http://schemas.openxmlformats.org/officeDocument/2006/relationships/slide" Target="/ppt/slides/slide2.xml" Id="R1cbb0020b43945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6d0bd45ad841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f0095750fb4147" /><Relationship Type="http://schemas.openxmlformats.org/officeDocument/2006/relationships/notesMaster" Target="/ppt/notesMasters/notesMaster1.xml" Id="R824907fa86fe4a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300ccacfcf4a33" /><Relationship Type="http://schemas.openxmlformats.org/officeDocument/2006/relationships/notesMaster" Target="/ppt/notesMasters/notesMaster1.xml" Id="R0f444b06828744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55 seconds.</a:t>
            </a:r>
          </a:p>
          <a:p xmlns:a="http://schemas.openxmlformats.org/drawingml/2006/main">
            <a:r>
              <a:t>We are building a support assistant that takes a question and company documents and aims to return a cited answer, or refuse when the evidence is insufficient. Our research question is whether adapting retrieval effort can reduce latency and cost while preserving quality. The planned pipeline first checks a verified cache. For novel questions it retrieves and reranks evidence, permits one additional search when needed, and then answers or refuses. Today we have implemented the retrieval baseline. Adaptive-RAG routes according to question complexity, and Self-RAG learns retrieval and self-reflection. We build on those ideas with an application-focused evaluation of verified cache reuse and bounded retries on enterprise support data. Cost savings remain a hypothesis.</a:t>
            </a:r>
          </a:p>
          <a:p xmlns:a="http://schemas.openxmlformats.org/drawingml/2006/main">
            <a:r>
              <a:t/>
            </a:r>
          </a:p>
          <a:p xmlns:a="http://schemas.openxmlformats.org/drawingml/2006/main">
            <a:r>
              <a:t>Sources:</a:t>
            </a:r>
          </a:p>
          <a:p xmlns:a="http://schemas.openxmlformats.org/drawingml/2006/main">
            <a:r>
              <a:t>Jeong et al., Adaptive-RAG, NAACL 2024: https://aclanthology.org/2024.naacl-long.389/</a:t>
            </a:r>
          </a:p>
          <a:p xmlns:a="http://schemas.openxmlformats.org/drawingml/2006/main">
            <a:r>
              <a:t>Asai et al., Self-RAG, ICLR 2024: https://arxiv.org/abs/2310.11511</a:t>
            </a:r>
          </a:p>
          <a:p xmlns:a="http://schemas.openxmlformats.org/drawingml/2006/main">
            <a:r>
              <a:t>Team proposal and implementation: https://github.com/AdithNG/adaptive-enterprise-retrieval/tree/midterm-presentation</a:t>
            </a:r>
          </a:p>
          <a:p xmlns:a="http://schemas.openxmlformats.org/drawingml/2006/main">
            <a:r>
              <a:t>Distinction: this is an applied evaluation contribution, not a claim that adaptive routing itself is new. No training or routing implementation is claimed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target: 65 seconds, followed by about one minute for Q&amp;A.</a:t>
            </a:r>
          </a:p>
          <a:p xmlns:a="http://schemas.openxmlformats.org/drawingml/2006/main">
            <a:r>
              <a:t>We now have a reproducible baseline using 100 questions and 290 documents. We chunked them into 3,358 model-safe passages and indexed them with MiniLM. On the 90 questions with gold documents, the correct document appears in the top five 84.4 percent of the time. Semantic questions are weaker, at 64 percent. MRR is 0.670. A local rerun reproduced all 100 gold-document ranks from the earlier run. Our main takeaway is that document retrieval is promising but does not guarantee usable answer evidence. In one example the correct document ranked first, but its best chunk omitted the five-business-day detail needed to answer. Next we need grounded generation and refusal, then reranking, verified cache and bounded requery. We will compare answer quality, latency and cost and expand to multi-document questions.</a:t>
            </a:r>
          </a:p>
          <a:p xmlns:a="http://schemas.openxmlformats.org/drawingml/2006/main">
            <a:r>
              <a:t/>
            </a:r>
          </a:p>
          <a:p xmlns:a="http://schemas.openxmlformats.org/drawingml/2006/main">
            <a:r>
              <a:t>Results source: https://github.com/AdithNG/adaptive-enterprise-retrieval/blob/midterm-presentation/results/midterm/retrieval_eval_20261019-023503/summary.json</a:t>
            </a:r>
          </a:p>
          <a:p xmlns:a="http://schemas.openxmlformats.org/drawingml/2006/main">
            <a:r>
              <a:t>Manual examples: https://github.com/AdithNG/adaptive-enterprise-retrieval/blob/midterm-presentation/results/midterm/retrieval_eval_20261019-023503/REVIEW.md</a:t>
            </a:r>
          </a:p>
          <a:p xmlns:a="http://schemas.openxmlformats.org/drawingml/2006/main">
            <a:r>
              <a:t>Dataset: https://github.com/onyx-dot-app/EnterpriseRAG-Bench</a:t>
            </a:r>
          </a:p>
          <a:p xmlns:a="http://schemas.openxmlformats.org/drawingml/2006/main">
            <a:r>
              <a:t/>
            </a:r>
          </a:p>
          <a:p xmlns:a="http://schemas.openxmlformats.org/drawingml/2006/main">
            <a:r>
              <a:t>Q&amp;A:</a:t>
            </a:r>
          </a:p>
          <a:p xmlns:a="http://schemas.openxmlformats.org/drawingml/2006/main">
            <a:r>
              <a:t>What is Hit@5? The fraction of answerable questions with at least one gold document among the first five ranked documents.</a:t>
            </a:r>
          </a:p>
          <a:p xmlns:a="http://schemas.openxmlformats.org/drawingml/2006/main">
            <a:r>
              <a:t>What is MRR? Average reciprocal rank of the first gold document. It is not average rank.</a:t>
            </a:r>
          </a:p>
          <a:p xmlns:a="http://schemas.openxmlformats.org/drawingml/2006/main">
            <a:r>
              <a:t>Why 290 documents? A manageable corpus with 90 gold documents and 200 other referenced documents selected as hard negatives. We have not established full-corpus performance.</a:t>
            </a:r>
          </a:p>
          <a:p xmlns:a="http://schemas.openxmlformats.org/drawingml/2006/main">
            <a:r>
              <a:t>Have you reduced cost? Not yet. This run measures retrieval only. Adaptive comparisons are future work.</a:t>
            </a:r>
          </a:p>
          <a:p xmlns:a="http://schemas.openxmlformats.org/drawingml/2006/main">
            <a:r>
              <a:t>Does it evaluate refusal? No. Ten info-not-found questions are logged but excluded from retrieval scoring.</a:t>
            </a:r>
          </a:p>
          <a:p xmlns:a="http://schemas.openxmlformats.org/drawingml/2006/main">
            <a:r>
              <a:t>What about held-out performance? Test Hit@5 is 12/15, but this small split is descriptive: earlier pooled scores were already inspected. No tuning was performed for this reproduction.</a:t>
            </a:r>
          </a:p>
          <a:p xmlns:a="http://schemas.openxmlformats.org/drawingml/2006/main">
            <a:r>
              <a:t>Multi-document coverage? No current answerable question has multiple gold documents; adding that coverage is planned.</a:t>
            </a:r>
          </a:p>
          <a:p xmlns:a="http://schemas.openxmlformats.org/drawingml/2006/main">
            <a:r>
              <a:t>Failure example: qst_0187 asks about harmful-output warnings across two evaluation windows. Gold document ranks sixth while general incident guidance ranks first.</a:t>
            </a:r>
          </a:p>
          <a:p xmlns:a="http://schemas.openxmlformats.org/drawingml/2006/main">
            <a:r>
              <a:t>Success limitation: qst_0046 has the correct document at rank one, but the top chunk starts after the five-day runbook detail. Full document retrieval success is not answer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5a1a1630e946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77b1678e514f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396887e7dc4f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5bd3ccfc404c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24db23816946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5732a851e542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8D0117-B73B-41B9-BC84-4C82D81272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E2C4A0-D720-478B-B3D1-BA2C9DEF96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C38B4E-E25F-43B6-8158-BA1D36E76C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2B6ECA-E679-4BB8-BFE7-9426E64A6D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0EE14B-1677-4C08-9D6F-DF5367FED4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2632FC7-7C61-4887-8EF5-EB2D527423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F23F4F-07C7-4036-BB62-2E9020FE8C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F60B88-8EB2-48FC-8134-112538661AA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345EF3-E99F-484E-84E3-62395FD0F4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5277B4-8B9D-4AD6-89F0-3ED7EC2716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e89e79648b404b" /><Relationship Type="http://schemas.openxmlformats.org/officeDocument/2006/relationships/slideLayout" Target="/ppt/slideLayouts/slideLayout1.xml" Id="R071594af43464781" /><Relationship Type="http://schemas.openxmlformats.org/officeDocument/2006/relationships/slideLayout" Target="/ppt/slideLayouts/slideLayout2.xml" Id="R7615647869b74399" /><Relationship Type="http://schemas.openxmlformats.org/officeDocument/2006/relationships/slideLayout" Target="/ppt/slideLayouts/slideLayout3.xml" Id="R153ac3b92c6c4fe2" /><Relationship Type="http://schemas.openxmlformats.org/officeDocument/2006/relationships/slideLayout" Target="/ppt/slideLayouts/slideLayout4.xml" Id="R73cc8a09a1ca4f48" /><Relationship Type="http://schemas.openxmlformats.org/officeDocument/2006/relationships/slideLayout" Target="/ppt/slideLayouts/slideLayout5.xml" Id="R9080f08c38b74ec3" /><Relationship Type="http://schemas.openxmlformats.org/officeDocument/2006/relationships/slideLayout" Target="/ppt/slideLayouts/slideLayout6.xml" Id="R5a59f8e3e30e4c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1594af43464781"/>
    <p:sldLayoutId xmlns:r="http://schemas.openxmlformats.org/officeDocument/2006/relationships" id="2147483650" r:id="R7615647869b74399"/>
    <p:sldLayoutId xmlns:r="http://schemas.openxmlformats.org/officeDocument/2006/relationships" id="2147483651" r:id="R153ac3b92c6c4fe2"/>
    <p:sldLayoutId xmlns:r="http://schemas.openxmlformats.org/officeDocument/2006/relationships" id="2147483652" r:id="R73cc8a09a1ca4f48"/>
    <p:sldLayoutId xmlns:r="http://schemas.openxmlformats.org/officeDocument/2006/relationships" id="2147483653" r:id="R9080f08c38b74ec3"/>
    <p:sldLayoutId xmlns:r="http://schemas.openxmlformats.org/officeDocument/2006/relationships" id="2147483654" r:id="R5a59f8e3e30e4c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028195aa714a89" /><Relationship Type="http://schemas.openxmlformats.org/officeDocument/2006/relationships/notesSlide" Target="/ppt/notesSlides/notesSlide1.xml" Id="Rd060bfa7dd4642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3312f1c1cb4749" /><Relationship Type="http://schemas.openxmlformats.org/officeDocument/2006/relationships/notesSlide" Target="/ppt/notesSlides/notesSlide2.xml" Id="R1ca5df4c52dc4d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D00C6B-4A48-4732-9A1B-DE7A4CE98E89}"/>
              </a:ext>
            </a:extLst>
          </p:cNvPr>
          <p:cNvSpPr>
            <a:spLocks xmlns:a="http://schemas.openxmlformats.org/drawingml/2006/main" noGrp="1"/>
          </p:cNvSpPr>
          <p:nvPr/>
        </p:nvSpPr>
        <p:spPr>
          <a:xfrm xmlns:a="http://schemas.openxmlformats.org/drawingml/2006/main">
            <a:off x="6096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87E8B"/>
                </a:solidFill>
                <a:latin typeface="Arial"/>
                <a:ea typeface="Arial"/>
                <a:cs typeface="Arial"/>
              </a:defRPr>
            </a:defPPr>
          </a:lstStyle>
          <a:p xmlns:a="http://schemas.openxmlformats.org/drawingml/2006/main">
            <a:pPr>
              <a:defRPr sz="1350" b="1">
                <a:solidFill>
                  <a:srgbClr val="087E8B"/>
                </a:solidFill>
                <a:latin typeface="Arial"/>
                <a:ea typeface="Arial"/>
                <a:cs typeface="Arial"/>
              </a:defRPr>
            </a:pPr>
            <a:r>
              <a:rPr sz="1350" b="1">
                <a:solidFill>
                  <a:srgbClr val="087E8B"/>
                </a:solidFill>
                <a:latin typeface="Arial"/>
                <a:ea typeface="Arial"/>
                <a:cs typeface="Arial"/>
              </a:rPr>
              <a:t>TEAM 13   /   CSCI 544 MIDTERM</a:t>
            </a:r>
          </a:p>
        </p:txBody>
      </p:sp>
      <p:sp>
        <p:nvSpPr>
          <p:cNvPr id="2" name="">
            <a:extLst xmlns:a="http://schemas.openxmlformats.org/drawingml/2006/main">
              <a:ext uri="{FF2B5EF4-FFF2-40B4-BE49-F238E27FC236}">
                <a16:creationId xmlns:a16="http://schemas.microsoft.com/office/drawing/2014/main" id="{D14774F3-5333-411B-8267-49A14D3A0EB8}"/>
              </a:ext>
            </a:extLst>
          </p:cNvPr>
          <p:cNvSpPr>
            <a:spLocks xmlns:a="http://schemas.openxmlformats.org/drawingml/2006/main" noGrp="1"/>
          </p:cNvSpPr>
          <p:nvPr/>
        </p:nvSpPr>
        <p:spPr>
          <a:xfrm xmlns:a="http://schemas.openxmlformats.org/drawingml/2006/main">
            <a:off x="609600" y="7239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83F"/>
                </a:solidFill>
                <a:latin typeface="Arial"/>
                <a:ea typeface="Arial"/>
                <a:cs typeface="Arial"/>
              </a:defRPr>
            </a:defPPr>
          </a:lstStyle>
          <a:p xmlns:a="http://schemas.openxmlformats.org/drawingml/2006/main">
            <a:pPr>
              <a:defRPr sz="3450" b="1">
                <a:solidFill>
                  <a:srgbClr val="14283F"/>
                </a:solidFill>
                <a:latin typeface="Arial"/>
                <a:ea typeface="Arial"/>
                <a:cs typeface="Arial"/>
              </a:defRPr>
            </a:pPr>
            <a:r>
              <a:rPr sz="3450" b="1">
                <a:solidFill>
                  <a:srgbClr val="14283F"/>
                </a:solidFill>
                <a:latin typeface="Arial"/>
                <a:ea typeface="Arial"/>
                <a:cs typeface="Arial"/>
              </a:rPr>
              <a:t>Cost-aware adaptive retrieval</a:t>
            </a:r>
          </a:p>
          <a:p xmlns:a="http://schemas.openxmlformats.org/drawingml/2006/main">
            <a:pPr>
              <a:defRPr sz="3450" b="1">
                <a:solidFill>
                  <a:srgbClr val="14283F"/>
                </a:solidFill>
                <a:latin typeface="Arial"/>
                <a:ea typeface="Arial"/>
                <a:cs typeface="Arial"/>
              </a:defRPr>
            </a:pPr>
            <a:r>
              <a:rPr sz="3450" b="1">
                <a:solidFill>
                  <a:srgbClr val="14283F"/>
                </a:solidFill>
                <a:latin typeface="Arial"/>
                <a:ea typeface="Arial"/>
                <a:cs typeface="Arial"/>
              </a:rPr>
              <a:t>for enterprise support</a:t>
            </a:r>
          </a:p>
        </p:txBody>
      </p:sp>
      <p:sp>
        <p:nvSpPr>
          <p:cNvPr id="3" name="">
            <a:extLst xmlns:a="http://schemas.openxmlformats.org/drawingml/2006/main">
              <a:ext uri="{FF2B5EF4-FFF2-40B4-BE49-F238E27FC236}">
                <a16:creationId xmlns:a16="http://schemas.microsoft.com/office/drawing/2014/main" id="{4A37BDE5-E373-4423-8666-CA2B9EB1BDBB}"/>
              </a:ext>
            </a:extLst>
          </p:cNvPr>
          <p:cNvSpPr>
            <a:spLocks xmlns:a="http://schemas.openxmlformats.org/drawingml/2006/main" noGrp="1"/>
          </p:cNvSpPr>
          <p:nvPr/>
        </p:nvSpPr>
        <p:spPr>
          <a:xfrm xmlns:a="http://schemas.openxmlformats.org/drawingml/2006/main">
            <a:off x="609600" y="18478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171"/>
                </a:solidFill>
                <a:latin typeface="Arial"/>
                <a:ea typeface="Arial"/>
                <a:cs typeface="Arial"/>
              </a:defRPr>
            </a:defPPr>
          </a:lstStyle>
          <a:p xmlns:a="http://schemas.openxmlformats.org/drawingml/2006/main">
            <a:pPr>
              <a:defRPr sz="1950" b="0">
                <a:solidFill>
                  <a:srgbClr val="526171"/>
                </a:solidFill>
                <a:latin typeface="Arial"/>
                <a:ea typeface="Arial"/>
                <a:cs typeface="Arial"/>
              </a:defRPr>
            </a:pPr>
            <a:r>
              <a:rPr sz="1950" b="0">
                <a:solidFill>
                  <a:srgbClr val="526171"/>
                </a:solidFill>
                <a:latin typeface="Arial"/>
                <a:ea typeface="Arial"/>
                <a:cs typeface="Arial"/>
              </a:rPr>
              <a:t>Goal: reduce response time and cost while preserving answer quality</a:t>
            </a:r>
          </a:p>
        </p:txBody>
      </p:sp>
      <p:sp>
        <p:nvSpPr>
          <p:cNvPr id="4" name="">
            <a:extLst xmlns:a="http://schemas.openxmlformats.org/drawingml/2006/main">
              <a:ext uri="{FF2B5EF4-FFF2-40B4-BE49-F238E27FC236}">
                <a16:creationId xmlns:a16="http://schemas.microsoft.com/office/drawing/2014/main" id="{D55B06F3-EA9A-4FE6-B97C-4A381D3E3A5B}"/>
              </a:ext>
            </a:extLst>
          </p:cNvPr>
          <p:cNvSpPr>
            <a:spLocks xmlns:a="http://schemas.openxmlformats.org/drawingml/2006/main" noGrp="1"/>
          </p:cNvSpPr>
          <p:nvPr/>
        </p:nvSpPr>
        <p:spPr>
          <a:xfrm xmlns:a="http://schemas.openxmlformats.org/drawingml/2006/main">
            <a:off x="609600" y="25431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8B"/>
                </a:solidFill>
                <a:latin typeface="Arial"/>
                <a:ea typeface="Arial"/>
                <a:cs typeface="Arial"/>
              </a:defRPr>
            </a:defPPr>
          </a:lstStyle>
          <a:p xmlns:a="http://schemas.openxmlformats.org/drawingml/2006/main">
            <a:pPr>
              <a:defRPr sz="1500" b="1">
                <a:solidFill>
                  <a:srgbClr val="087E8B"/>
                </a:solidFill>
                <a:latin typeface="Arial"/>
                <a:ea typeface="Arial"/>
                <a:cs typeface="Arial"/>
              </a:defRPr>
            </a:pPr>
            <a:r>
              <a:rPr sz="1500" b="1">
                <a:solidFill>
                  <a:srgbClr val="087E8B"/>
                </a:solidFill>
                <a:latin typeface="Arial"/>
                <a:ea typeface="Arial"/>
                <a:cs typeface="Arial"/>
              </a:rPr>
              <a:t>THE TASK</a:t>
            </a:r>
          </a:p>
        </p:txBody>
      </p:sp>
      <p:sp>
        <p:nvSpPr>
          <p:cNvPr id="5" name="">
            <a:extLst xmlns:a="http://schemas.openxmlformats.org/drawingml/2006/main">
              <a:ext uri="{FF2B5EF4-FFF2-40B4-BE49-F238E27FC236}">
                <a16:creationId xmlns:a16="http://schemas.microsoft.com/office/drawing/2014/main" id="{AEEAAFFF-CBCA-4167-B64A-A676DE4BF283}"/>
              </a:ext>
            </a:extLst>
          </p:cNvPr>
          <p:cNvSpPr>
            <a:spLocks xmlns:a="http://schemas.openxmlformats.org/drawingml/2006/main" noGrp="1"/>
          </p:cNvSpPr>
          <p:nvPr/>
        </p:nvSpPr>
        <p:spPr>
          <a:xfrm xmlns:a="http://schemas.openxmlformats.org/drawingml/2006/main">
            <a:off x="609600" y="2943225"/>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83F"/>
                </a:solidFill>
                <a:latin typeface="Arial"/>
                <a:ea typeface="Arial"/>
                <a:cs typeface="Arial"/>
              </a:defRPr>
            </a:defPPr>
          </a:lstStyle>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Input: a support question and</a:t>
            </a:r>
          </a:p>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company documents</a:t>
            </a:r>
          </a:p>
          <a:p xmlns:a="http://schemas.openxmlformats.org/drawingml/2006/main">
            <a:r>
              <a:t/>
            </a:r>
          </a:p>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Target output: a cited answer,</a:t>
            </a:r>
          </a:p>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or refusal when evidence is weak</a:t>
            </a:r>
          </a:p>
        </p:txBody>
      </p:sp>
      <p:sp>
        <p:nvSpPr>
          <p:cNvPr id="6" name="">
            <a:extLst xmlns:a="http://schemas.openxmlformats.org/drawingml/2006/main">
              <a:ext uri="{FF2B5EF4-FFF2-40B4-BE49-F238E27FC236}">
                <a16:creationId xmlns:a16="http://schemas.microsoft.com/office/drawing/2014/main" id="{3AADC14A-6ECD-4E1B-B92C-F911E904910A}"/>
              </a:ext>
            </a:extLst>
          </p:cNvPr>
          <p:cNvSpPr>
            <a:spLocks xmlns:a="http://schemas.openxmlformats.org/drawingml/2006/main" noGrp="1"/>
          </p:cNvSpPr>
          <p:nvPr/>
        </p:nvSpPr>
        <p:spPr>
          <a:xfrm xmlns:a="http://schemas.openxmlformats.org/drawingml/2006/main">
            <a:off x="6334125" y="25431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8B"/>
                </a:solidFill>
                <a:latin typeface="Arial"/>
                <a:ea typeface="Arial"/>
                <a:cs typeface="Arial"/>
              </a:defRPr>
            </a:defPPr>
          </a:lstStyle>
          <a:p xmlns:a="http://schemas.openxmlformats.org/drawingml/2006/main">
            <a:pPr>
              <a:defRPr sz="1500" b="1">
                <a:solidFill>
                  <a:srgbClr val="087E8B"/>
                </a:solidFill>
                <a:latin typeface="Arial"/>
                <a:ea typeface="Arial"/>
                <a:cs typeface="Arial"/>
              </a:defRPr>
            </a:pPr>
            <a:r>
              <a:rPr sz="1500" b="1">
                <a:solidFill>
                  <a:srgbClr val="087E8B"/>
                </a:solidFill>
                <a:latin typeface="Arial"/>
                <a:ea typeface="Arial"/>
                <a:cs typeface="Arial"/>
              </a:rPr>
              <a:t>PROPOSED METHOD</a:t>
            </a:r>
          </a:p>
        </p:txBody>
      </p:sp>
      <p:sp>
        <p:nvSpPr>
          <p:cNvPr id="7" name="">
            <a:extLst xmlns:a="http://schemas.openxmlformats.org/drawingml/2006/main">
              <a:ext uri="{FF2B5EF4-FFF2-40B4-BE49-F238E27FC236}">
                <a16:creationId xmlns:a16="http://schemas.microsoft.com/office/drawing/2014/main" id="{1B6E6D72-ADC9-441A-A40B-473642580763}"/>
              </a:ext>
            </a:extLst>
          </p:cNvPr>
          <p:cNvSpPr>
            <a:spLocks xmlns:a="http://schemas.openxmlformats.org/drawingml/2006/main" noGrp="1"/>
          </p:cNvSpPr>
          <p:nvPr/>
        </p:nvSpPr>
        <p:spPr>
          <a:xfrm xmlns:a="http://schemas.openxmlformats.org/drawingml/2006/main">
            <a:off x="6334125" y="2952750"/>
            <a:ext cx="5286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83F"/>
                </a:solidFill>
                <a:latin typeface="Arial"/>
                <a:ea typeface="Arial"/>
                <a:cs typeface="Arial"/>
              </a:defRPr>
            </a:defPPr>
          </a:lstStyle>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1   Reuse a verified cached answer</a:t>
            </a:r>
          </a:p>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2   Otherwise retrieve and rerank</a:t>
            </a:r>
          </a:p>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3   If evidence is weak, search once more</a:t>
            </a:r>
          </a:p>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4   Answer with citations or refuse</a:t>
            </a:r>
          </a:p>
        </p:txBody>
      </p:sp>
      <p:sp>
        <p:nvSpPr>
          <p:cNvPr id="8" name="">
            <a:extLst xmlns:a="http://schemas.openxmlformats.org/drawingml/2006/main">
              <a:ext uri="{FF2B5EF4-FFF2-40B4-BE49-F238E27FC236}">
                <a16:creationId xmlns:a16="http://schemas.microsoft.com/office/drawing/2014/main" id="{B9E2ED5A-FFA9-4071-B131-8A42B3F6C11F}"/>
              </a:ext>
            </a:extLst>
          </p:cNvPr>
          <p:cNvSpPr>
            <a:spLocks xmlns:a="http://schemas.openxmlformats.org/drawingml/2006/main" noGrp="1"/>
          </p:cNvSpPr>
          <p:nvPr/>
        </p:nvSpPr>
        <p:spPr>
          <a:xfrm xmlns:a="http://schemas.openxmlformats.org/drawingml/2006/main">
            <a:off x="6334125" y="46386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87E8B"/>
                </a:solidFill>
                <a:latin typeface="Arial"/>
                <a:ea typeface="Arial"/>
                <a:cs typeface="Arial"/>
              </a:defRPr>
            </a:defPPr>
          </a:lstStyle>
          <a:p xmlns:a="http://schemas.openxmlformats.org/drawingml/2006/main">
            <a:pPr>
              <a:defRPr sz="1650" b="1">
                <a:solidFill>
                  <a:srgbClr val="087E8B"/>
                </a:solidFill>
                <a:latin typeface="Arial"/>
                <a:ea typeface="Arial"/>
                <a:cs typeface="Arial"/>
              </a:defRPr>
            </a:pPr>
            <a:r>
              <a:rPr sz="1650" b="1">
                <a:solidFill>
                  <a:srgbClr val="087E8B"/>
                </a:solidFill>
                <a:latin typeface="Arial"/>
                <a:ea typeface="Arial"/>
                <a:cs typeface="Arial"/>
              </a:rPr>
              <a:t>Today: MiniLM retrieval baseline implemented</a:t>
            </a:r>
          </a:p>
        </p:txBody>
      </p:sp>
      <p:sp>
        <p:nvSpPr>
          <p:cNvPr id="9" name="">
            <a:extLst xmlns:a="http://schemas.openxmlformats.org/drawingml/2006/main">
              <a:ext uri="{FF2B5EF4-FFF2-40B4-BE49-F238E27FC236}">
                <a16:creationId xmlns:a16="http://schemas.microsoft.com/office/drawing/2014/main" id="{4FAA82CC-5302-429D-821D-FB968B68D003}"/>
              </a:ext>
            </a:extLst>
          </p:cNvPr>
          <p:cNvSpPr>
            <a:spLocks xmlns:a="http://schemas.openxmlformats.org/drawingml/2006/main" noGrp="1"/>
          </p:cNvSpPr>
          <p:nvPr/>
        </p:nvSpPr>
        <p:spPr>
          <a:xfrm xmlns:a="http://schemas.openxmlformats.org/drawingml/2006/main">
            <a:off x="609600" y="52197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8B"/>
                </a:solidFill>
                <a:latin typeface="Arial"/>
                <a:ea typeface="Arial"/>
                <a:cs typeface="Arial"/>
              </a:defRPr>
            </a:defPPr>
          </a:lstStyle>
          <a:p xmlns:a="http://schemas.openxmlformats.org/drawingml/2006/main">
            <a:pPr>
              <a:defRPr sz="1500" b="1">
                <a:solidFill>
                  <a:srgbClr val="087E8B"/>
                </a:solidFill>
                <a:latin typeface="Arial"/>
                <a:ea typeface="Arial"/>
                <a:cs typeface="Arial"/>
              </a:defRPr>
            </a:pPr>
            <a:r>
              <a:rPr sz="1500" b="1">
                <a:solidFill>
                  <a:srgbClr val="087E8B"/>
                </a:solidFill>
                <a:latin typeface="Arial"/>
                <a:ea typeface="Arial"/>
                <a:cs typeface="Arial"/>
              </a:rPr>
              <a:t>PRIOR WORK AND OUR FOCUS</a:t>
            </a:r>
          </a:p>
        </p:txBody>
      </p:sp>
      <p:sp>
        <p:nvSpPr>
          <p:cNvPr id="10" name="">
            <a:extLst xmlns:a="http://schemas.openxmlformats.org/drawingml/2006/main">
              <a:ext uri="{FF2B5EF4-FFF2-40B4-BE49-F238E27FC236}">
                <a16:creationId xmlns:a16="http://schemas.microsoft.com/office/drawing/2014/main" id="{03504A90-F346-4817-A27B-8546EFD346EE}"/>
              </a:ext>
            </a:extLst>
          </p:cNvPr>
          <p:cNvSpPr>
            <a:spLocks xmlns:a="http://schemas.openxmlformats.org/drawingml/2006/main" noGrp="1"/>
          </p:cNvSpPr>
          <p:nvPr/>
        </p:nvSpPr>
        <p:spPr>
          <a:xfrm xmlns:a="http://schemas.openxmlformats.org/drawingml/2006/main">
            <a:off x="609600" y="55721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83F"/>
                </a:solidFill>
                <a:latin typeface="Arial"/>
                <a:ea typeface="Arial"/>
                <a:cs typeface="Arial"/>
              </a:defRPr>
            </a:defPPr>
          </a:lstStyle>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Adaptive-RAG (Jeong et al., 2024): routes by question complexity</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Self-RAG (Asai et al., 2024): retrieves and critiques with self-reflection</a:t>
            </a:r>
          </a:p>
        </p:txBody>
      </p:sp>
      <p:sp>
        <p:nvSpPr>
          <p:cNvPr id="11" name="">
            <a:extLst xmlns:a="http://schemas.openxmlformats.org/drawingml/2006/main">
              <a:ext uri="{FF2B5EF4-FFF2-40B4-BE49-F238E27FC236}">
                <a16:creationId xmlns:a16="http://schemas.microsoft.com/office/drawing/2014/main" id="{D4339BD8-4C2F-4C09-A7AE-EC8A526605C4}"/>
              </a:ext>
            </a:extLst>
          </p:cNvPr>
          <p:cNvSpPr>
            <a:spLocks xmlns:a="http://schemas.openxmlformats.org/drawingml/2006/main" noGrp="1"/>
          </p:cNvSpPr>
          <p:nvPr/>
        </p:nvSpPr>
        <p:spPr>
          <a:xfrm xmlns:a="http://schemas.openxmlformats.org/drawingml/2006/main">
            <a:off x="609600" y="6238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171"/>
                </a:solidFill>
                <a:latin typeface="Arial"/>
                <a:ea typeface="Arial"/>
                <a:cs typeface="Arial"/>
              </a:defRPr>
            </a:defPPr>
          </a:lstStyle>
          <a:p xmlns:a="http://schemas.openxmlformats.org/drawingml/2006/main">
            <a:pPr>
              <a:defRPr sz="1575" b="0">
                <a:solidFill>
                  <a:srgbClr val="526171"/>
                </a:solidFill>
                <a:latin typeface="Arial"/>
                <a:ea typeface="Arial"/>
                <a:cs typeface="Arial"/>
              </a:defRPr>
            </a:pPr>
            <a:r>
              <a:rPr sz="1575" b="0">
                <a:solidFill>
                  <a:srgbClr val="526171"/>
                </a:solidFill>
                <a:latin typeface="Arial"/>
                <a:ea typeface="Arial"/>
                <a:cs typeface="Arial"/>
              </a:rPr>
              <a:t>Our planned contribution: evaluate cache reuse and bounded retries on enterprise data, measuring quality against latency and cost.</a:t>
            </a:r>
          </a:p>
        </p:txBody>
      </p:sp>
    </p:spTree>
    <p:extLst>
      <p:ext uri="{BB962C8B-B14F-4D97-AF65-F5344CB8AC3E}">
        <p14:creationId xmlns:p14="http://schemas.microsoft.com/office/powerpoint/2010/main" val="16808504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83C076-05BA-4172-8009-3F1C7C2DAA50}"/>
              </a:ext>
            </a:extLst>
          </p:cNvPr>
          <p:cNvSpPr>
            <a:spLocks xmlns:a="http://schemas.openxmlformats.org/drawingml/2006/main" noGrp="1"/>
          </p:cNvSpPr>
          <p:nvPr/>
        </p:nvSpPr>
        <p:spPr>
          <a:xfrm xmlns:a="http://schemas.openxmlformats.org/drawingml/2006/main">
            <a:off x="6096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87E8B"/>
                </a:solidFill>
                <a:latin typeface="Arial"/>
                <a:ea typeface="Arial"/>
                <a:cs typeface="Arial"/>
              </a:defRPr>
            </a:defPPr>
          </a:lstStyle>
          <a:p xmlns:a="http://schemas.openxmlformats.org/drawingml/2006/main">
            <a:pPr>
              <a:defRPr sz="1350" b="1">
                <a:solidFill>
                  <a:srgbClr val="087E8B"/>
                </a:solidFill>
                <a:latin typeface="Arial"/>
                <a:ea typeface="Arial"/>
                <a:cs typeface="Arial"/>
              </a:defRPr>
            </a:pPr>
            <a:r>
              <a:rPr sz="1350" b="1">
                <a:solidFill>
                  <a:srgbClr val="087E8B"/>
                </a:solidFill>
                <a:latin typeface="Arial"/>
                <a:ea typeface="Arial"/>
                <a:cs typeface="Arial"/>
              </a:rPr>
              <a:t>TEAM 13   /   RESULTS AND NEXT STEPS</a:t>
            </a:r>
          </a:p>
        </p:txBody>
      </p:sp>
      <p:sp>
        <p:nvSpPr>
          <p:cNvPr id="2" name="">
            <a:extLst xmlns:a="http://schemas.openxmlformats.org/drawingml/2006/main">
              <a:ext uri="{FF2B5EF4-FFF2-40B4-BE49-F238E27FC236}">
                <a16:creationId xmlns:a16="http://schemas.microsoft.com/office/drawing/2014/main" id="{27221126-280D-46A3-959C-01ABAE153E91}"/>
              </a:ext>
            </a:extLst>
          </p:cNvPr>
          <p:cNvSpPr>
            <a:spLocks xmlns:a="http://schemas.openxmlformats.org/drawingml/2006/main" noGrp="1"/>
          </p:cNvSpPr>
          <p:nvPr/>
        </p:nvSpPr>
        <p:spPr>
          <a:xfrm xmlns:a="http://schemas.openxmlformats.org/drawingml/2006/main">
            <a:off x="609600" y="79057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83F"/>
                </a:solidFill>
                <a:latin typeface="Arial"/>
                <a:ea typeface="Arial"/>
                <a:cs typeface="Arial"/>
              </a:defRPr>
            </a:defPPr>
          </a:lstStyle>
          <a:p xmlns:a="http://schemas.openxmlformats.org/drawingml/2006/main">
            <a:pPr>
              <a:defRPr sz="3225" b="1">
                <a:solidFill>
                  <a:srgbClr val="14283F"/>
                </a:solidFill>
                <a:latin typeface="Arial"/>
                <a:ea typeface="Arial"/>
                <a:cs typeface="Arial"/>
              </a:defRPr>
            </a:pPr>
            <a:r>
              <a:rPr sz="3225" b="1">
                <a:solidFill>
                  <a:srgbClr val="14283F"/>
                </a:solidFill>
                <a:latin typeface="Arial"/>
                <a:ea typeface="Arial"/>
                <a:cs typeface="Arial"/>
              </a:rPr>
              <a:t>Retrieval works, but semantic queries lag</a:t>
            </a:r>
          </a:p>
        </p:txBody>
      </p:sp>
      <p:sp>
        <p:nvSpPr>
          <p:cNvPr id="3" name="">
            <a:extLst xmlns:a="http://schemas.openxmlformats.org/drawingml/2006/main">
              <a:ext uri="{FF2B5EF4-FFF2-40B4-BE49-F238E27FC236}">
                <a16:creationId xmlns:a16="http://schemas.microsoft.com/office/drawing/2014/main" id="{A02590DF-4004-4344-8693-5247D8B2169D}"/>
              </a:ext>
            </a:extLst>
          </p:cNvPr>
          <p:cNvSpPr>
            <a:spLocks xmlns:a="http://schemas.openxmlformats.org/drawingml/2006/main" noGrp="1"/>
          </p:cNvSpPr>
          <p:nvPr/>
        </p:nvSpPr>
        <p:spPr>
          <a:xfrm xmlns:a="http://schemas.openxmlformats.org/drawingml/2006/main">
            <a:off x="609600" y="1504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71"/>
                </a:solidFill>
                <a:latin typeface="Arial"/>
                <a:ea typeface="Arial"/>
                <a:cs typeface="Arial"/>
              </a:defRPr>
            </a:defPPr>
          </a:lstStyle>
          <a:p xmlns:a="http://schemas.openxmlformats.org/drawingml/2006/main">
            <a:pPr>
              <a:defRPr sz="1725" b="0">
                <a:solidFill>
                  <a:srgbClr val="526171"/>
                </a:solidFill>
                <a:latin typeface="Arial"/>
                <a:ea typeface="Arial"/>
                <a:cs typeface="Arial"/>
              </a:defRPr>
            </a:pPr>
            <a:r>
              <a:rPr sz="1725" b="0">
                <a:solidFill>
                  <a:srgbClr val="526171"/>
                </a:solidFill>
                <a:latin typeface="Arial"/>
                <a:ea typeface="Arial"/>
                <a:cs typeface="Arial"/>
              </a:rPr>
              <a:t>EnterpriseRAG-Bench subset: 100 questions, 290 documents, 3,358 indexed passages</a:t>
            </a:r>
          </a:p>
        </p:txBody>
      </p:sp>
      <p:sp>
        <p:nvSpPr>
          <p:cNvPr id="4" name="">
            <a:extLst xmlns:a="http://schemas.openxmlformats.org/drawingml/2006/main">
              <a:ext uri="{FF2B5EF4-FFF2-40B4-BE49-F238E27FC236}">
                <a16:creationId xmlns:a16="http://schemas.microsoft.com/office/drawing/2014/main" id="{8913666B-8A8D-4A60-B9F2-C54349A6D96B}"/>
              </a:ext>
            </a:extLst>
          </p:cNvPr>
          <p:cNvSpPr>
            <a:spLocks xmlns:a="http://schemas.openxmlformats.org/drawingml/2006/main" noGrp="1"/>
          </p:cNvSpPr>
          <p:nvPr/>
        </p:nvSpPr>
        <p:spPr>
          <a:xfrm xmlns:a="http://schemas.openxmlformats.org/drawingml/2006/main">
            <a:off x="609600" y="2124075"/>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087E8B"/>
                </a:solidFill>
                <a:latin typeface="Arial"/>
                <a:ea typeface="Arial"/>
                <a:cs typeface="Arial"/>
              </a:defRPr>
            </a:defPPr>
          </a:lstStyle>
          <a:p xmlns:a="http://schemas.openxmlformats.org/drawingml/2006/main">
            <a:pPr>
              <a:defRPr sz="5100" b="1">
                <a:solidFill>
                  <a:srgbClr val="087E8B"/>
                </a:solidFill>
                <a:latin typeface="Arial"/>
                <a:ea typeface="Arial"/>
                <a:cs typeface="Arial"/>
              </a:defRPr>
            </a:pPr>
            <a:r>
              <a:rPr sz="5100" b="1">
                <a:solidFill>
                  <a:srgbClr val="087E8B"/>
                </a:solidFill>
                <a:latin typeface="Arial"/>
                <a:ea typeface="Arial"/>
                <a:cs typeface="Arial"/>
              </a:rPr>
              <a:t>84.4%</a:t>
            </a:r>
          </a:p>
        </p:txBody>
      </p:sp>
      <p:sp>
        <p:nvSpPr>
          <p:cNvPr id="5" name="">
            <a:extLst xmlns:a="http://schemas.openxmlformats.org/drawingml/2006/main">
              <a:ext uri="{FF2B5EF4-FFF2-40B4-BE49-F238E27FC236}">
                <a16:creationId xmlns:a16="http://schemas.microsoft.com/office/drawing/2014/main" id="{490478CE-6D73-46E9-AE79-20A6CE756CA4}"/>
              </a:ext>
            </a:extLst>
          </p:cNvPr>
          <p:cNvSpPr>
            <a:spLocks xmlns:a="http://schemas.openxmlformats.org/drawingml/2006/main" noGrp="1"/>
          </p:cNvSpPr>
          <p:nvPr/>
        </p:nvSpPr>
        <p:spPr>
          <a:xfrm xmlns:a="http://schemas.openxmlformats.org/drawingml/2006/main">
            <a:off x="609600" y="3000375"/>
            <a:ext cx="342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83F"/>
                </a:solidFill>
                <a:latin typeface="Arial"/>
                <a:ea typeface="Arial"/>
                <a:cs typeface="Arial"/>
              </a:defRPr>
            </a:defPPr>
          </a:lstStyle>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Overall Hit@5</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76 of 90 answerable questions</a:t>
            </a:r>
          </a:p>
        </p:txBody>
      </p:sp>
      <p:sp>
        <p:nvSpPr>
          <p:cNvPr id="6" name="">
            <a:extLst xmlns:a="http://schemas.openxmlformats.org/drawingml/2006/main">
              <a:ext uri="{FF2B5EF4-FFF2-40B4-BE49-F238E27FC236}">
                <a16:creationId xmlns:a16="http://schemas.microsoft.com/office/drawing/2014/main" id="{B0DDF6B8-47D4-407A-A791-5299A999EFDC}"/>
              </a:ext>
            </a:extLst>
          </p:cNvPr>
          <p:cNvSpPr>
            <a:spLocks xmlns:a="http://schemas.openxmlformats.org/drawingml/2006/main" noGrp="1"/>
          </p:cNvSpPr>
          <p:nvPr/>
        </p:nvSpPr>
        <p:spPr>
          <a:xfrm xmlns:a="http://schemas.openxmlformats.org/drawingml/2006/main">
            <a:off x="4552950" y="2124075"/>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087E8B"/>
                </a:solidFill>
                <a:latin typeface="Arial"/>
                <a:ea typeface="Arial"/>
                <a:cs typeface="Arial"/>
              </a:defRPr>
            </a:defPPr>
          </a:lstStyle>
          <a:p xmlns:a="http://schemas.openxmlformats.org/drawingml/2006/main">
            <a:pPr>
              <a:defRPr sz="5100" b="1">
                <a:solidFill>
                  <a:srgbClr val="087E8B"/>
                </a:solidFill>
                <a:latin typeface="Arial"/>
                <a:ea typeface="Arial"/>
                <a:cs typeface="Arial"/>
              </a:defRPr>
            </a:pPr>
            <a:r>
              <a:rPr sz="5100" b="1">
                <a:solidFill>
                  <a:srgbClr val="087E8B"/>
                </a:solidFill>
                <a:latin typeface="Arial"/>
                <a:ea typeface="Arial"/>
                <a:cs typeface="Arial"/>
              </a:rPr>
              <a:t>64.0%</a:t>
            </a:r>
          </a:p>
        </p:txBody>
      </p:sp>
      <p:sp>
        <p:nvSpPr>
          <p:cNvPr id="7" name="">
            <a:extLst xmlns:a="http://schemas.openxmlformats.org/drawingml/2006/main">
              <a:ext uri="{FF2B5EF4-FFF2-40B4-BE49-F238E27FC236}">
                <a16:creationId xmlns:a16="http://schemas.microsoft.com/office/drawing/2014/main" id="{12412925-7DBA-45FD-9D47-1EF1DE7D149B}"/>
              </a:ext>
            </a:extLst>
          </p:cNvPr>
          <p:cNvSpPr>
            <a:spLocks xmlns:a="http://schemas.openxmlformats.org/drawingml/2006/main" noGrp="1"/>
          </p:cNvSpPr>
          <p:nvPr/>
        </p:nvSpPr>
        <p:spPr>
          <a:xfrm xmlns:a="http://schemas.openxmlformats.org/drawingml/2006/main">
            <a:off x="4552950" y="3000375"/>
            <a:ext cx="342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83F"/>
                </a:solidFill>
                <a:latin typeface="Arial"/>
                <a:ea typeface="Arial"/>
                <a:cs typeface="Arial"/>
              </a:defRPr>
            </a:defPPr>
          </a:lstStyle>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Semantic Hit@5</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16 of 25 semantic questions</a:t>
            </a:r>
          </a:p>
        </p:txBody>
      </p:sp>
      <p:sp>
        <p:nvSpPr>
          <p:cNvPr id="8" name="">
            <a:extLst xmlns:a="http://schemas.openxmlformats.org/drawingml/2006/main">
              <a:ext uri="{FF2B5EF4-FFF2-40B4-BE49-F238E27FC236}">
                <a16:creationId xmlns:a16="http://schemas.microsoft.com/office/drawing/2014/main" id="{C6C4429D-A2D3-44DA-A34E-9EFD386D5519}"/>
              </a:ext>
            </a:extLst>
          </p:cNvPr>
          <p:cNvSpPr>
            <a:spLocks xmlns:a="http://schemas.openxmlformats.org/drawingml/2006/main" noGrp="1"/>
          </p:cNvSpPr>
          <p:nvPr/>
        </p:nvSpPr>
        <p:spPr>
          <a:xfrm xmlns:a="http://schemas.openxmlformats.org/drawingml/2006/main">
            <a:off x="8496300" y="2124075"/>
            <a:ext cx="295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087E8B"/>
                </a:solidFill>
                <a:latin typeface="Arial"/>
                <a:ea typeface="Arial"/>
                <a:cs typeface="Arial"/>
              </a:defRPr>
            </a:defPPr>
          </a:lstStyle>
          <a:p xmlns:a="http://schemas.openxmlformats.org/drawingml/2006/main">
            <a:pPr>
              <a:defRPr sz="5100" b="1">
                <a:solidFill>
                  <a:srgbClr val="087E8B"/>
                </a:solidFill>
                <a:latin typeface="Arial"/>
                <a:ea typeface="Arial"/>
                <a:cs typeface="Arial"/>
              </a:defRPr>
            </a:pPr>
            <a:r>
              <a:rPr sz="5100" b="1">
                <a:solidFill>
                  <a:srgbClr val="087E8B"/>
                </a:solidFill>
                <a:latin typeface="Arial"/>
                <a:ea typeface="Arial"/>
                <a:cs typeface="Arial"/>
              </a:rPr>
              <a:t>0.670</a:t>
            </a:r>
          </a:p>
        </p:txBody>
      </p:sp>
      <p:sp>
        <p:nvSpPr>
          <p:cNvPr id="9" name="">
            <a:extLst xmlns:a="http://schemas.openxmlformats.org/drawingml/2006/main">
              <a:ext uri="{FF2B5EF4-FFF2-40B4-BE49-F238E27FC236}">
                <a16:creationId xmlns:a16="http://schemas.microsoft.com/office/drawing/2014/main" id="{42E20A5E-E2B3-480C-90D1-6F8C1A8E3E90}"/>
              </a:ext>
            </a:extLst>
          </p:cNvPr>
          <p:cNvSpPr>
            <a:spLocks xmlns:a="http://schemas.openxmlformats.org/drawingml/2006/main" noGrp="1"/>
          </p:cNvSpPr>
          <p:nvPr/>
        </p:nvSpPr>
        <p:spPr>
          <a:xfrm xmlns:a="http://schemas.openxmlformats.org/drawingml/2006/main">
            <a:off x="8496300" y="3000375"/>
            <a:ext cx="304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83F"/>
                </a:solidFill>
                <a:latin typeface="Arial"/>
                <a:ea typeface="Arial"/>
                <a:cs typeface="Arial"/>
              </a:defRPr>
            </a:defPPr>
          </a:lstStyle>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Mean reciprocal rank</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Across 90 answerable questions</a:t>
            </a:r>
          </a:p>
        </p:txBody>
      </p:sp>
      <p:sp>
        <p:nvSpPr>
          <p:cNvPr id="10" name="">
            <a:extLst xmlns:a="http://schemas.openxmlformats.org/drawingml/2006/main">
              <a:ext uri="{FF2B5EF4-FFF2-40B4-BE49-F238E27FC236}">
                <a16:creationId xmlns:a16="http://schemas.microsoft.com/office/drawing/2014/main" id="{BD8D334F-E8E3-4637-AEA9-76D1745951FB}"/>
              </a:ext>
            </a:extLst>
          </p:cNvPr>
          <p:cNvSpPr>
            <a:spLocks xmlns:a="http://schemas.openxmlformats.org/drawingml/2006/main" noGrp="1"/>
          </p:cNvSpPr>
          <p:nvPr/>
        </p:nvSpPr>
        <p:spPr>
          <a:xfrm xmlns:a="http://schemas.openxmlformats.org/drawingml/2006/main">
            <a:off x="609600" y="3857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71"/>
                </a:solidFill>
                <a:latin typeface="Arial"/>
                <a:ea typeface="Arial"/>
                <a:cs typeface="Arial"/>
              </a:defRPr>
            </a:defPPr>
          </a:lstStyle>
          <a:p xmlns:a="http://schemas.openxmlformats.org/drawingml/2006/main">
            <a:pPr>
              <a:defRPr sz="1725" b="0">
                <a:solidFill>
                  <a:srgbClr val="526171"/>
                </a:solidFill>
                <a:latin typeface="Arial"/>
                <a:ea typeface="Arial"/>
                <a:cs typeface="Arial"/>
              </a:defRPr>
            </a:pPr>
            <a:r>
              <a:rPr sz="1725" b="0">
                <a:solidFill>
                  <a:srgbClr val="526171"/>
                </a:solidFill>
                <a:latin typeface="Arial"/>
                <a:ea typeface="Arial"/>
                <a:cs typeface="Arial"/>
              </a:rPr>
              <a:t>Completed: subset, chunking, MiniLM search, evaluation. Reproduced every gold rank.</a:t>
            </a:r>
          </a:p>
        </p:txBody>
      </p:sp>
      <p:sp>
        <p:nvSpPr>
          <p:cNvPr id="11" name="">
            <a:extLst xmlns:a="http://schemas.openxmlformats.org/drawingml/2006/main">
              <a:ext uri="{FF2B5EF4-FFF2-40B4-BE49-F238E27FC236}">
                <a16:creationId xmlns:a16="http://schemas.microsoft.com/office/drawing/2014/main" id="{0DA21B8F-FBD4-4CCD-9253-38F1ACB81BA9}"/>
              </a:ext>
            </a:extLst>
          </p:cNvPr>
          <p:cNvSpPr>
            <a:spLocks xmlns:a="http://schemas.openxmlformats.org/drawingml/2006/main" noGrp="1"/>
          </p:cNvSpPr>
          <p:nvPr/>
        </p:nvSpPr>
        <p:spPr>
          <a:xfrm xmlns:a="http://schemas.openxmlformats.org/drawingml/2006/main">
            <a:off x="609600" y="44958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8B"/>
                </a:solidFill>
                <a:latin typeface="Arial"/>
                <a:ea typeface="Arial"/>
                <a:cs typeface="Arial"/>
              </a:defRPr>
            </a:defPPr>
          </a:lstStyle>
          <a:p xmlns:a="http://schemas.openxmlformats.org/drawingml/2006/main">
            <a:pPr>
              <a:defRPr sz="1500" b="1">
                <a:solidFill>
                  <a:srgbClr val="087E8B"/>
                </a:solidFill>
                <a:latin typeface="Arial"/>
                <a:ea typeface="Arial"/>
                <a:cs typeface="Arial"/>
              </a:defRPr>
            </a:pPr>
            <a:r>
              <a:rPr sz="1500" b="1">
                <a:solidFill>
                  <a:srgbClr val="087E8B"/>
                </a:solidFill>
                <a:latin typeface="Arial"/>
                <a:ea typeface="Arial"/>
                <a:cs typeface="Arial"/>
              </a:rPr>
              <a:t>WHAT WE LEARNED</a:t>
            </a:r>
          </a:p>
        </p:txBody>
      </p:sp>
      <p:sp>
        <p:nvSpPr>
          <p:cNvPr id="12" name="">
            <a:extLst xmlns:a="http://schemas.openxmlformats.org/drawingml/2006/main">
              <a:ext uri="{FF2B5EF4-FFF2-40B4-BE49-F238E27FC236}">
                <a16:creationId xmlns:a16="http://schemas.microsoft.com/office/drawing/2014/main" id="{C2D4354F-D04E-4A2F-A82F-D8BA14C58B62}"/>
              </a:ext>
            </a:extLst>
          </p:cNvPr>
          <p:cNvSpPr>
            <a:spLocks xmlns:a="http://schemas.openxmlformats.org/drawingml/2006/main" noGrp="1"/>
          </p:cNvSpPr>
          <p:nvPr/>
        </p:nvSpPr>
        <p:spPr>
          <a:xfrm xmlns:a="http://schemas.openxmlformats.org/drawingml/2006/main">
            <a:off x="609600" y="4895850"/>
            <a:ext cx="5048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83F"/>
                </a:solidFill>
                <a:latin typeface="Arial"/>
                <a:ea typeface="Arial"/>
                <a:cs typeface="Arial"/>
              </a:defRPr>
            </a:defPPr>
          </a:lstStyle>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The correct document can rank first</a:t>
            </a:r>
          </a:p>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while its top passage omits the answer.</a:t>
            </a:r>
          </a:p>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We still need to verify answer evidence.</a:t>
            </a:r>
          </a:p>
        </p:txBody>
      </p:sp>
      <p:sp>
        <p:nvSpPr>
          <p:cNvPr id="13" name="">
            <a:extLst xmlns:a="http://schemas.openxmlformats.org/drawingml/2006/main">
              <a:ext uri="{FF2B5EF4-FFF2-40B4-BE49-F238E27FC236}">
                <a16:creationId xmlns:a16="http://schemas.microsoft.com/office/drawing/2014/main" id="{6731BD9F-40E7-4B58-AA9E-50E785C3F8D7}"/>
              </a:ext>
            </a:extLst>
          </p:cNvPr>
          <p:cNvSpPr>
            <a:spLocks xmlns:a="http://schemas.openxmlformats.org/drawingml/2006/main" noGrp="1"/>
          </p:cNvSpPr>
          <p:nvPr/>
        </p:nvSpPr>
        <p:spPr>
          <a:xfrm xmlns:a="http://schemas.openxmlformats.org/drawingml/2006/main">
            <a:off x="6334125" y="44958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8B"/>
                </a:solidFill>
                <a:latin typeface="Arial"/>
                <a:ea typeface="Arial"/>
                <a:cs typeface="Arial"/>
              </a:defRPr>
            </a:defPPr>
          </a:lstStyle>
          <a:p xmlns:a="http://schemas.openxmlformats.org/drawingml/2006/main">
            <a:pPr>
              <a:defRPr sz="1500" b="1">
                <a:solidFill>
                  <a:srgbClr val="087E8B"/>
                </a:solidFill>
                <a:latin typeface="Arial"/>
                <a:ea typeface="Arial"/>
                <a:cs typeface="Arial"/>
              </a:defRPr>
            </a:pPr>
            <a:r>
              <a:rPr sz="1500" b="1">
                <a:solidFill>
                  <a:srgbClr val="087E8B"/>
                </a:solidFill>
                <a:latin typeface="Arial"/>
                <a:ea typeface="Arial"/>
                <a:cs typeface="Arial"/>
              </a:rPr>
              <a:t>BEFORE THE FINAL REPORT</a:t>
            </a:r>
          </a:p>
        </p:txBody>
      </p:sp>
      <p:sp>
        <p:nvSpPr>
          <p:cNvPr id="14" name="">
            <a:extLst xmlns:a="http://schemas.openxmlformats.org/drawingml/2006/main">
              <a:ext uri="{FF2B5EF4-FFF2-40B4-BE49-F238E27FC236}">
                <a16:creationId xmlns:a16="http://schemas.microsoft.com/office/drawing/2014/main" id="{9485D56A-F1DD-4415-93F2-DDFF453796A3}"/>
              </a:ext>
            </a:extLst>
          </p:cNvPr>
          <p:cNvSpPr>
            <a:spLocks xmlns:a="http://schemas.openxmlformats.org/drawingml/2006/main" noGrp="1"/>
          </p:cNvSpPr>
          <p:nvPr/>
        </p:nvSpPr>
        <p:spPr>
          <a:xfrm xmlns:a="http://schemas.openxmlformats.org/drawingml/2006/main">
            <a:off x="6334125" y="48958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83F"/>
                </a:solidFill>
                <a:latin typeface="Arial"/>
                <a:ea typeface="Arial"/>
                <a:cs typeface="Arial"/>
              </a:defRPr>
            </a:defPPr>
          </a:lstStyle>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Grounded answers and refusal</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Reranking, cache and one extra search</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Compare quality, latency and cost</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Add questions spanning multiple documents</a:t>
            </a:r>
          </a:p>
        </p:txBody>
      </p:sp>
      <p:sp>
        <p:nvSpPr>
          <p:cNvPr id="15" name="">
            <a:extLst xmlns:a="http://schemas.openxmlformats.org/drawingml/2006/main">
              <a:ext uri="{FF2B5EF4-FFF2-40B4-BE49-F238E27FC236}">
                <a16:creationId xmlns:a16="http://schemas.microsoft.com/office/drawing/2014/main" id="{146BBA3B-B7EC-458A-8F9A-D68DA21BADCF}"/>
              </a:ext>
            </a:extLst>
          </p:cNvPr>
          <p:cNvSpPr>
            <a:spLocks xmlns:a="http://schemas.openxmlformats.org/drawingml/2006/main" noGrp="1"/>
          </p:cNvSpPr>
          <p:nvPr/>
        </p:nvSpPr>
        <p:spPr>
          <a:xfrm xmlns:a="http://schemas.openxmlformats.org/drawingml/2006/main">
            <a:off x="609600" y="63341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71"/>
                </a:solidFill>
                <a:latin typeface="Arial"/>
                <a:ea typeface="Arial"/>
                <a:cs typeface="Arial"/>
              </a:defRPr>
            </a:defPPr>
          </a:lstStyle>
          <a:p xmlns:a="http://schemas.openxmlformats.org/drawingml/2006/main">
            <a:pPr>
              <a:defRPr sz="1350" b="0">
                <a:solidFill>
                  <a:srgbClr val="526171"/>
                </a:solidFill>
                <a:latin typeface="Arial"/>
                <a:ea typeface="Arial"/>
                <a:cs typeface="Arial"/>
              </a:defRPr>
            </a:pPr>
            <a:r>
              <a:rPr sz="1350" b="0">
                <a:solidFill>
                  <a:srgbClr val="526171"/>
                </a:solidFill>
                <a:latin typeface="Arial"/>
                <a:ea typeface="Arial"/>
                <a:cs typeface="Arial"/>
              </a:rPr>
              <a:t>Exploratory results pooled across splits. Ten unanswerable questions excluded. Answer quality and adaptive savings remain unmeasured.</a:t>
            </a:r>
          </a:p>
        </p:txBody>
      </p:sp>
    </p:spTree>
    <p:extLst>
      <p:ext uri="{BB962C8B-B14F-4D97-AF65-F5344CB8AC3E}">
        <p14:creationId xmlns:p14="http://schemas.microsoft.com/office/powerpoint/2010/main" val="1851940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2026-10-19T02:41:45.8080000Z</dcterms:created>
  <dcterms:modified xsi:type="dcterms:W3CDTF">2026-10-19T02:41:45.8080000Z</dcterms:modified>
</coreProperties>
</file>